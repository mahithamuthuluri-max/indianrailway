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FF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urekaselect.com/article/100754?utm_source=chatgpt.com" TargetMode="Externa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ailyatri.in/train-insights?utm_source=chatgpt.com" TargetMode="External"/><Relationship Id="rId5" Type="http://schemas.openxmlformats.org/officeDocument/2006/relationships/hyperlink" Target="https://www.sciencedirect.com/science/article/pii/S136655452500242X?utm_source=chatgpt.com" TargetMode="External"/><Relationship Id="rId4" Type="http://schemas.openxmlformats.org/officeDocument/2006/relationships/hyperlink" Target="https://ijcseonline.org/index.php/j/article/view/4333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7278183" y="1913858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7772" y="513312"/>
            <a:ext cx="5924550" cy="616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SIH26028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Dynamic Forecast of Expected Time of Arrival (ETA) for Coaching Trains.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 - smart automation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 - 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 53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 lumina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2071344-3606-CBAB-BB84-31BB3217A6AE}"/>
              </a:ext>
            </a:extLst>
          </p:cNvPr>
          <p:cNvSpPr/>
          <p:nvPr/>
        </p:nvSpPr>
        <p:spPr>
          <a:xfrm>
            <a:off x="3510716" y="1172226"/>
            <a:ext cx="3153200" cy="243425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D58D8C3-2BB0-D7D6-E44E-5E1AFDC4C179}"/>
              </a:ext>
            </a:extLst>
          </p:cNvPr>
          <p:cNvSpPr/>
          <p:nvPr/>
        </p:nvSpPr>
        <p:spPr>
          <a:xfrm>
            <a:off x="127496" y="1151258"/>
            <a:ext cx="3153200" cy="243425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IN" sz="3200" dirty="0">
                <a:solidFill>
                  <a:schemeClr val="accent4">
                    <a:lumMod val="75000"/>
                  </a:schemeClr>
                </a:solidFill>
                <a:latin typeface="Sitka Display Semibold" pitchFamily="2" charset="0"/>
              </a:rPr>
              <a:t>OUR DYNAMIC ETA FORECASTING SYSTEM</a:t>
            </a:r>
            <a:endParaRPr lang="en-US" sz="3200" b="1" dirty="0">
              <a:solidFill>
                <a:schemeClr val="accent4">
                  <a:lumMod val="75000"/>
                </a:schemeClr>
              </a:solidFill>
              <a:latin typeface="Sitka Display Semibold" pitchFamily="2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19644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LUMINA</a:t>
            </a:r>
            <a:endParaRPr lang="en-IN" sz="16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B0652D8-AD55-8E4C-83A9-4F9CD8FDEF2C}"/>
              </a:ext>
            </a:extLst>
          </p:cNvPr>
          <p:cNvSpPr txBox="1"/>
          <p:nvPr/>
        </p:nvSpPr>
        <p:spPr>
          <a:xfrm>
            <a:off x="242506" y="1275791"/>
            <a:ext cx="31532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4">
                    <a:lumMod val="50000"/>
                  </a:schemeClr>
                </a:solidFill>
              </a:rPr>
              <a:t>1</a:t>
            </a:r>
            <a:r>
              <a:rPr lang="en-IN" sz="2000" dirty="0">
                <a:solidFill>
                  <a:schemeClr val="accent4">
                    <a:lumMod val="50000"/>
                  </a:schemeClr>
                </a:solidFill>
              </a:rPr>
              <a:t>.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Data Collection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4">
                    <a:lumMod val="50000"/>
                  </a:schemeClr>
                </a:solidFill>
              </a:rPr>
              <a:t>Current train location.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4">
                    <a:lumMod val="50000"/>
                  </a:schemeClr>
                </a:solidFill>
              </a:rPr>
              <a:t>Current speed and delay.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4">
                    <a:lumMod val="50000"/>
                  </a:schemeClr>
                </a:solidFill>
              </a:rPr>
              <a:t>Previous station timings.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4">
                    <a:lumMod val="50000"/>
                  </a:schemeClr>
                </a:solidFill>
              </a:rPr>
              <a:t>Distance to upcoming stations.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4">
                    <a:lumMod val="50000"/>
                  </a:schemeClr>
                </a:solidFill>
              </a:rPr>
              <a:t>Historical delay patterns.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4">
                    <a:lumMod val="50000"/>
                  </a:schemeClr>
                </a:solidFill>
              </a:rPr>
              <a:t>Weather and route conditions.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4">
                    <a:lumMod val="50000"/>
                  </a:schemeClr>
                </a:solidFill>
              </a:rPr>
              <a:t>Congestion information</a:t>
            </a:r>
            <a:r>
              <a:rPr lang="en-IN" sz="1600" dirty="0">
                <a:solidFill>
                  <a:schemeClr val="accent4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6E14646-19E8-27BC-A084-412C587073FF}"/>
              </a:ext>
            </a:extLst>
          </p:cNvPr>
          <p:cNvSpPr/>
          <p:nvPr/>
        </p:nvSpPr>
        <p:spPr>
          <a:xfrm>
            <a:off x="3850367" y="1875955"/>
            <a:ext cx="2733967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EED48E7-9C59-9F42-F7D3-2A31D16E8BB2}"/>
              </a:ext>
            </a:extLst>
          </p:cNvPr>
          <p:cNvSpPr txBox="1"/>
          <p:nvPr/>
        </p:nvSpPr>
        <p:spPr>
          <a:xfrm>
            <a:off x="3510716" y="1296748"/>
            <a:ext cx="315320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2. 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Data Processing &amp; Analysis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4">
                    <a:lumMod val="50000"/>
                  </a:schemeClr>
                </a:solidFill>
              </a:rPr>
              <a:t>Clean and combine data from different sources.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4">
                    <a:lumMod val="50000"/>
                  </a:schemeClr>
                </a:solidFill>
              </a:rPr>
              <a:t>Handle missing and incorrect data.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4">
                    <a:lumMod val="50000"/>
                  </a:schemeClr>
                </a:solidFill>
              </a:rPr>
              <a:t>Identify station-wise and route-wise delay patterns.</a:t>
            </a:r>
            <a:endParaRPr lang="en-IN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F9AC22D-30A4-F744-00D3-F64D14C27DDB}"/>
              </a:ext>
            </a:extLst>
          </p:cNvPr>
          <p:cNvSpPr/>
          <p:nvPr/>
        </p:nvSpPr>
        <p:spPr>
          <a:xfrm>
            <a:off x="127496" y="3734435"/>
            <a:ext cx="3153200" cy="243425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3. 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AI/ML-Based Prediction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4">
                    <a:lumMod val="50000"/>
                  </a:schemeClr>
                </a:solidFill>
              </a:rPr>
              <a:t>Learn from historical and real-time train data.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4">
                    <a:lumMod val="50000"/>
                  </a:schemeClr>
                </a:solidFill>
              </a:rPr>
              <a:t>Predict additional future delay.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4">
                    <a:lumMod val="50000"/>
                  </a:schemeClr>
                </a:solidFill>
              </a:rPr>
              <a:t>Forecast how the delay will propagate across upcoming stations.</a:t>
            </a:r>
            <a:endParaRPr lang="en-IN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4AC9E55-3E8A-CBCF-1897-098F0CDED422}"/>
              </a:ext>
            </a:extLst>
          </p:cNvPr>
          <p:cNvSpPr/>
          <p:nvPr/>
        </p:nvSpPr>
        <p:spPr>
          <a:xfrm>
            <a:off x="3510716" y="3753010"/>
            <a:ext cx="3153200" cy="243425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4. 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Prediction Output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4">
                    <a:lumMod val="50000"/>
                  </a:schemeClr>
                </a:solidFill>
              </a:rPr>
              <a:t>Station-wise future ETA.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4">
                    <a:lumMod val="50000"/>
                  </a:schemeClr>
                </a:solidFill>
              </a:rPr>
              <a:t>Expected delay at each station.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4">
                    <a:lumMod val="50000"/>
                  </a:schemeClr>
                </a:solidFill>
              </a:rPr>
              <a:t>Dynamic final ETA.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4">
                    <a:lumMod val="50000"/>
                  </a:schemeClr>
                </a:solidFill>
              </a:rPr>
              <a:t>Possible reasons for delay.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4">
                    <a:lumMod val="50000"/>
                  </a:schemeClr>
                </a:solidFill>
              </a:rPr>
              <a:t>What-if analysis.</a:t>
            </a:r>
            <a:endParaRPr lang="en-IN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4" name="Flowchart: Document 33">
            <a:extLst>
              <a:ext uri="{FF2B5EF4-FFF2-40B4-BE49-F238E27FC236}">
                <a16:creationId xmlns:a16="http://schemas.microsoft.com/office/drawing/2014/main" id="{42046B48-7090-4209-BA6C-924DDD6D7B0D}"/>
              </a:ext>
            </a:extLst>
          </p:cNvPr>
          <p:cNvSpPr/>
          <p:nvPr/>
        </p:nvSpPr>
        <p:spPr>
          <a:xfrm>
            <a:off x="7384026" y="4542503"/>
            <a:ext cx="4198374" cy="1655250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Unique feature 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:</a:t>
            </a:r>
          </a:p>
          <a:p>
            <a:r>
              <a:rPr lang="en-US" sz="1600" dirty="0">
                <a:solidFill>
                  <a:schemeClr val="accent4">
                    <a:lumMod val="50000"/>
                  </a:schemeClr>
                </a:solidFill>
              </a:rPr>
              <a:t>Instead of only showing the current running status, our system predicts how the delay may increase or decrease at upcoming stations and at the final destination.</a:t>
            </a:r>
            <a:endParaRPr lang="en-IN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7E9D3579-0C27-727D-46DF-AA15A00611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6215" y="1143000"/>
            <a:ext cx="4416185" cy="31092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8E2933B-36CD-F978-60BD-33D271F290EE}"/>
              </a:ext>
            </a:extLst>
          </p:cNvPr>
          <p:cNvSpPr/>
          <p:nvPr/>
        </p:nvSpPr>
        <p:spPr>
          <a:xfrm>
            <a:off x="402440" y="1209117"/>
            <a:ext cx="5722374" cy="155349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40774" y="1312912"/>
            <a:ext cx="539791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Collect Data → Train location, speed &amp; delay.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Process Data → Organize current and past data.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AI Prediction → Predict future delay.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Dynamic ETA → Calculate updated arrival time.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Dashboard → Show results to passengers.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4">
                    <a:lumMod val="50000"/>
                  </a:schemeClr>
                </a:solidFill>
              </a:rPr>
              <a:t>LUMINA</a:t>
            </a:r>
            <a:endParaRPr lang="en-IN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9" name="Flowchart: Terminator 18">
            <a:extLst>
              <a:ext uri="{FF2B5EF4-FFF2-40B4-BE49-F238E27FC236}">
                <a16:creationId xmlns:a16="http://schemas.microsoft.com/office/drawing/2014/main" id="{7F5BF608-0098-8369-CB97-365CEE78C624}"/>
              </a:ext>
            </a:extLst>
          </p:cNvPr>
          <p:cNvSpPr/>
          <p:nvPr/>
        </p:nvSpPr>
        <p:spPr>
          <a:xfrm>
            <a:off x="2297334" y="3096674"/>
            <a:ext cx="1731841" cy="503238"/>
          </a:xfrm>
          <a:prstGeom prst="flowChartTerminator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accent5">
                    <a:lumMod val="50000"/>
                  </a:schemeClr>
                </a:solidFill>
              </a:rPr>
              <a:t>DATA PROCESSING</a:t>
            </a:r>
          </a:p>
        </p:txBody>
      </p:sp>
      <p:sp>
        <p:nvSpPr>
          <p:cNvPr id="21" name="Flowchart: Terminator 20">
            <a:extLst>
              <a:ext uri="{FF2B5EF4-FFF2-40B4-BE49-F238E27FC236}">
                <a16:creationId xmlns:a16="http://schemas.microsoft.com/office/drawing/2014/main" id="{3DAEA1F0-D21D-3945-8F6B-142819A156A5}"/>
              </a:ext>
            </a:extLst>
          </p:cNvPr>
          <p:cNvSpPr/>
          <p:nvPr/>
        </p:nvSpPr>
        <p:spPr>
          <a:xfrm>
            <a:off x="4451280" y="3096674"/>
            <a:ext cx="1731841" cy="503238"/>
          </a:xfrm>
          <a:prstGeom prst="flowChartTerminator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accent5">
                    <a:lumMod val="50000"/>
                  </a:schemeClr>
                </a:solidFill>
              </a:rPr>
              <a:t>FEATURE ENGINEERING</a:t>
            </a:r>
          </a:p>
        </p:txBody>
      </p:sp>
      <p:sp>
        <p:nvSpPr>
          <p:cNvPr id="23" name="Flowchart: Terminator 22">
            <a:extLst>
              <a:ext uri="{FF2B5EF4-FFF2-40B4-BE49-F238E27FC236}">
                <a16:creationId xmlns:a16="http://schemas.microsoft.com/office/drawing/2014/main" id="{23E06147-146A-A7BF-32CE-C4DFE5F72A09}"/>
              </a:ext>
            </a:extLst>
          </p:cNvPr>
          <p:cNvSpPr/>
          <p:nvPr/>
        </p:nvSpPr>
        <p:spPr>
          <a:xfrm>
            <a:off x="141341" y="3096674"/>
            <a:ext cx="1731841" cy="503238"/>
          </a:xfrm>
          <a:prstGeom prst="flowChartTerminator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accent5">
                    <a:lumMod val="50000"/>
                  </a:schemeClr>
                </a:solidFill>
              </a:rPr>
              <a:t>TRAIN DATA</a:t>
            </a:r>
          </a:p>
        </p:txBody>
      </p:sp>
      <p:sp>
        <p:nvSpPr>
          <p:cNvPr id="25" name="Flowchart: Terminator 24">
            <a:extLst>
              <a:ext uri="{FF2B5EF4-FFF2-40B4-BE49-F238E27FC236}">
                <a16:creationId xmlns:a16="http://schemas.microsoft.com/office/drawing/2014/main" id="{2037EA3B-86C7-95B6-142B-F850EC586757}"/>
              </a:ext>
            </a:extLst>
          </p:cNvPr>
          <p:cNvSpPr/>
          <p:nvPr/>
        </p:nvSpPr>
        <p:spPr>
          <a:xfrm>
            <a:off x="2373808" y="3933971"/>
            <a:ext cx="1731841" cy="503238"/>
          </a:xfrm>
          <a:prstGeom prst="flowChartTerminator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accent5">
                    <a:lumMod val="50000"/>
                  </a:schemeClr>
                </a:solidFill>
              </a:rPr>
              <a:t>DYNAMIC ETA + DELAY FORECAST</a:t>
            </a:r>
          </a:p>
        </p:txBody>
      </p:sp>
      <p:sp>
        <p:nvSpPr>
          <p:cNvPr id="29" name="Flowchart: Terminator 28">
            <a:extLst>
              <a:ext uri="{FF2B5EF4-FFF2-40B4-BE49-F238E27FC236}">
                <a16:creationId xmlns:a16="http://schemas.microsoft.com/office/drawing/2014/main" id="{5913C2A7-8424-59B5-682C-F82DE3423D31}"/>
              </a:ext>
            </a:extLst>
          </p:cNvPr>
          <p:cNvSpPr/>
          <p:nvPr/>
        </p:nvSpPr>
        <p:spPr>
          <a:xfrm>
            <a:off x="4470258" y="3933971"/>
            <a:ext cx="1731841" cy="503238"/>
          </a:xfrm>
          <a:prstGeom prst="flowChartTerminator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accent5">
                    <a:lumMod val="50000"/>
                  </a:schemeClr>
                </a:solidFill>
              </a:rPr>
              <a:t>REAL-TIME RAILWAY DASHBOARD</a:t>
            </a:r>
          </a:p>
        </p:txBody>
      </p:sp>
      <p:sp>
        <p:nvSpPr>
          <p:cNvPr id="31" name="Flowchart: Terminator 30">
            <a:extLst>
              <a:ext uri="{FF2B5EF4-FFF2-40B4-BE49-F238E27FC236}">
                <a16:creationId xmlns:a16="http://schemas.microsoft.com/office/drawing/2014/main" id="{999425A3-5C11-B349-D256-081A587F411F}"/>
              </a:ext>
            </a:extLst>
          </p:cNvPr>
          <p:cNvSpPr/>
          <p:nvPr/>
        </p:nvSpPr>
        <p:spPr>
          <a:xfrm>
            <a:off x="141341" y="3933971"/>
            <a:ext cx="1731841" cy="503238"/>
          </a:xfrm>
          <a:prstGeom prst="flowChartTerminator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accent5">
                    <a:lumMod val="50000"/>
                  </a:schemeClr>
                </a:solidFill>
              </a:rPr>
              <a:t>ML PREDICTION MODEL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12F03B1-38E3-E0BA-8806-D07CBA5E354A}"/>
              </a:ext>
            </a:extLst>
          </p:cNvPr>
          <p:cNvCxnSpPr>
            <a:cxnSpLocks/>
            <a:stCxn id="23" idx="3"/>
            <a:endCxn id="19" idx="1"/>
          </p:cNvCxnSpPr>
          <p:nvPr/>
        </p:nvCxnSpPr>
        <p:spPr>
          <a:xfrm>
            <a:off x="1873182" y="3348293"/>
            <a:ext cx="4241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FE26763-8C1F-1C65-4D13-1FD10F7FB598}"/>
              </a:ext>
            </a:extLst>
          </p:cNvPr>
          <p:cNvCxnSpPr>
            <a:cxnSpLocks/>
            <a:stCxn id="19" idx="3"/>
            <a:endCxn id="21" idx="1"/>
          </p:cNvCxnSpPr>
          <p:nvPr/>
        </p:nvCxnSpPr>
        <p:spPr>
          <a:xfrm>
            <a:off x="4029175" y="3348293"/>
            <a:ext cx="4221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73CDBE4-79AE-233C-CD6C-B613DE07BC74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5336179" y="3599912"/>
            <a:ext cx="0" cy="3340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35837CC-8094-5901-B0A6-44823D3B1E88}"/>
              </a:ext>
            </a:extLst>
          </p:cNvPr>
          <p:cNvCxnSpPr>
            <a:endCxn id="25" idx="3"/>
          </p:cNvCxnSpPr>
          <p:nvPr/>
        </p:nvCxnSpPr>
        <p:spPr>
          <a:xfrm flipH="1">
            <a:off x="4105649" y="4185590"/>
            <a:ext cx="3456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949A0A8-36E2-1892-D49A-8DADF6E31ED9}"/>
              </a:ext>
            </a:extLst>
          </p:cNvPr>
          <p:cNvCxnSpPr>
            <a:cxnSpLocks/>
            <a:stCxn id="25" idx="1"/>
            <a:endCxn id="31" idx="3"/>
          </p:cNvCxnSpPr>
          <p:nvPr/>
        </p:nvCxnSpPr>
        <p:spPr>
          <a:xfrm flipH="1">
            <a:off x="1873182" y="4185590"/>
            <a:ext cx="50062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8DE7B3EE-3B11-A357-B152-22794010F59E}"/>
              </a:ext>
            </a:extLst>
          </p:cNvPr>
          <p:cNvSpPr txBox="1"/>
          <p:nvPr/>
        </p:nvSpPr>
        <p:spPr>
          <a:xfrm>
            <a:off x="6655745" y="1393912"/>
            <a:ext cx="1986810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 LIVE TRAIN DATA    </a:t>
            </a:r>
          </a:p>
          <a:p>
            <a:r>
              <a:rPr lang="en-IN" sz="1200" dirty="0"/>
              <a:t> GPS • Speed • Time   </a:t>
            </a:r>
          </a:p>
          <a:p>
            <a:r>
              <a:rPr lang="en-IN" sz="1200" dirty="0"/>
              <a:t>            </a:t>
            </a:r>
          </a:p>
          <a:p>
            <a:r>
              <a:rPr lang="en-IN" sz="1200" dirty="0"/>
              <a:t>            </a:t>
            </a:r>
          </a:p>
          <a:p>
            <a:r>
              <a:rPr lang="en-IN" sz="1200" dirty="0"/>
              <a:t> </a:t>
            </a:r>
          </a:p>
          <a:p>
            <a:r>
              <a:rPr lang="en-IN" sz="1200" dirty="0"/>
              <a:t>    RAILWAY DATA       </a:t>
            </a:r>
          </a:p>
          <a:p>
            <a:r>
              <a:rPr lang="en-IN" sz="1200" dirty="0"/>
              <a:t>  Timetable • Route    </a:t>
            </a:r>
          </a:p>
          <a:p>
            <a:r>
              <a:rPr lang="en-IN" sz="1200" dirty="0"/>
              <a:t>  Stations • Distance  </a:t>
            </a:r>
          </a:p>
          <a:p>
            <a:endParaRPr lang="en-IN" sz="1200" dirty="0"/>
          </a:p>
          <a:p>
            <a:r>
              <a:rPr lang="en-IN" sz="1200" dirty="0"/>
              <a:t>            </a:t>
            </a:r>
          </a:p>
          <a:p>
            <a:endParaRPr lang="en-IN" sz="1200" dirty="0"/>
          </a:p>
          <a:p>
            <a:r>
              <a:rPr lang="en-IN" sz="1200" dirty="0"/>
              <a:t>  HISTORICAL DATA     </a:t>
            </a:r>
          </a:p>
          <a:p>
            <a:r>
              <a:rPr lang="en-IN" sz="1200" dirty="0"/>
              <a:t>  Past Delays • Travel </a:t>
            </a:r>
          </a:p>
          <a:p>
            <a:r>
              <a:rPr lang="en-IN" sz="1200" dirty="0"/>
              <a:t>  Time • Stop Duration </a:t>
            </a:r>
          </a:p>
          <a:p>
            <a:endParaRPr lang="en-IN" sz="1200" dirty="0"/>
          </a:p>
          <a:p>
            <a:r>
              <a:rPr lang="en-IN" sz="1200" dirty="0"/>
              <a:t>            </a:t>
            </a:r>
          </a:p>
          <a:p>
            <a:r>
              <a:rPr lang="en-IN" sz="1200" dirty="0"/>
              <a:t> DATA PROCESSING      </a:t>
            </a:r>
          </a:p>
          <a:p>
            <a:r>
              <a:rPr lang="en-IN" sz="1200" dirty="0"/>
              <a:t>  Cleaning + Combining </a:t>
            </a:r>
          </a:p>
          <a:p>
            <a:r>
              <a:rPr lang="en-IN" sz="1200" dirty="0"/>
              <a:t> </a:t>
            </a:r>
          </a:p>
          <a:p>
            <a:r>
              <a:rPr lang="en-IN" sz="1200" dirty="0"/>
              <a:t>         </a:t>
            </a:r>
          </a:p>
          <a:p>
            <a:endParaRPr lang="en-IN" sz="8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CCBEE9B-D94F-2977-CDF0-CAE3ECBC12AB}"/>
              </a:ext>
            </a:extLst>
          </p:cNvPr>
          <p:cNvSpPr txBox="1"/>
          <p:nvPr/>
        </p:nvSpPr>
        <p:spPr>
          <a:xfrm>
            <a:off x="8942803" y="1209117"/>
            <a:ext cx="2249848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                         ↺</a:t>
            </a:r>
          </a:p>
          <a:p>
            <a:r>
              <a:rPr lang="en-US" sz="1200" dirty="0"/>
              <a:t>  ─────► NEW LIVE DATA</a:t>
            </a:r>
          </a:p>
          <a:p>
            <a:r>
              <a:rPr lang="en-US" sz="1200" dirty="0"/>
              <a:t>|                       </a:t>
            </a:r>
          </a:p>
          <a:p>
            <a:r>
              <a:rPr lang="en-US" sz="1200" dirty="0"/>
              <a:t>REAL-TIME DASHBOARD   Location • ETA       </a:t>
            </a:r>
          </a:p>
          <a:p>
            <a:r>
              <a:rPr lang="en-US" sz="1200" dirty="0"/>
              <a:t> Delay • Next Station</a:t>
            </a:r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 DYNAMIC ETA       </a:t>
            </a:r>
          </a:p>
          <a:p>
            <a:r>
              <a:rPr lang="en-US" sz="1200" dirty="0"/>
              <a:t>  ESTIMATION ENGINE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 ML PREDICTION     </a:t>
            </a:r>
          </a:p>
          <a:p>
            <a:r>
              <a:rPr lang="en-US" sz="1200" dirty="0"/>
              <a:t> Travel Time + Delay </a:t>
            </a:r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FEATURE ENGINEERING   Distance • Delay      Speed • Time </a:t>
            </a:r>
            <a:endParaRPr lang="en-IN" sz="1200" dirty="0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6B03658-EB46-EAA7-E054-2BB6A0995350}"/>
              </a:ext>
            </a:extLst>
          </p:cNvPr>
          <p:cNvCxnSpPr/>
          <p:nvPr/>
        </p:nvCxnSpPr>
        <p:spPr>
          <a:xfrm>
            <a:off x="8327923" y="4522839"/>
            <a:ext cx="4916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868729F-5496-8004-BA02-174F267D31E4}"/>
              </a:ext>
            </a:extLst>
          </p:cNvPr>
          <p:cNvCxnSpPr/>
          <p:nvPr/>
        </p:nvCxnSpPr>
        <p:spPr>
          <a:xfrm flipV="1">
            <a:off x="9609927" y="4041058"/>
            <a:ext cx="0" cy="2458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EFEB3C6-E36B-667C-072B-3354FD9FBA54}"/>
              </a:ext>
            </a:extLst>
          </p:cNvPr>
          <p:cNvCxnSpPr/>
          <p:nvPr/>
        </p:nvCxnSpPr>
        <p:spPr>
          <a:xfrm>
            <a:off x="7384026" y="4041058"/>
            <a:ext cx="0" cy="2732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E711EB5A-AD72-9CF4-0AA1-8CAEC1D88B37}"/>
              </a:ext>
            </a:extLst>
          </p:cNvPr>
          <p:cNvCxnSpPr/>
          <p:nvPr/>
        </p:nvCxnSpPr>
        <p:spPr>
          <a:xfrm>
            <a:off x="7384026" y="2979174"/>
            <a:ext cx="0" cy="3691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1" name="Straight Arrow Connector 17410">
            <a:extLst>
              <a:ext uri="{FF2B5EF4-FFF2-40B4-BE49-F238E27FC236}">
                <a16:creationId xmlns:a16="http://schemas.microsoft.com/office/drawing/2014/main" id="{70DA2DB5-9C39-B04A-30E4-E9A8B7364650}"/>
              </a:ext>
            </a:extLst>
          </p:cNvPr>
          <p:cNvCxnSpPr>
            <a:cxnSpLocks/>
          </p:cNvCxnSpPr>
          <p:nvPr/>
        </p:nvCxnSpPr>
        <p:spPr>
          <a:xfrm>
            <a:off x="7384026" y="1877961"/>
            <a:ext cx="0" cy="4326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4" name="Straight Arrow Connector 17413">
            <a:extLst>
              <a:ext uri="{FF2B5EF4-FFF2-40B4-BE49-F238E27FC236}">
                <a16:creationId xmlns:a16="http://schemas.microsoft.com/office/drawing/2014/main" id="{8B9C3C18-E438-6C7A-6512-A245BB73517A}"/>
              </a:ext>
            </a:extLst>
          </p:cNvPr>
          <p:cNvCxnSpPr/>
          <p:nvPr/>
        </p:nvCxnSpPr>
        <p:spPr>
          <a:xfrm flipV="1">
            <a:off x="9609927" y="3163733"/>
            <a:ext cx="0" cy="3660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6" name="Straight Arrow Connector 17415">
            <a:extLst>
              <a:ext uri="{FF2B5EF4-FFF2-40B4-BE49-F238E27FC236}">
                <a16:creationId xmlns:a16="http://schemas.microsoft.com/office/drawing/2014/main" id="{3941FE13-BC24-2A3B-0DEE-B00A48719769}"/>
              </a:ext>
            </a:extLst>
          </p:cNvPr>
          <p:cNvCxnSpPr/>
          <p:nvPr/>
        </p:nvCxnSpPr>
        <p:spPr>
          <a:xfrm flipV="1">
            <a:off x="9609927" y="2399071"/>
            <a:ext cx="0" cy="2372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3C0A0B4-8D08-D7CA-8F25-675AC57229FF}"/>
              </a:ext>
            </a:extLst>
          </p:cNvPr>
          <p:cNvSpPr/>
          <p:nvPr/>
        </p:nvSpPr>
        <p:spPr>
          <a:xfrm>
            <a:off x="442453" y="1179871"/>
            <a:ext cx="3215148" cy="410361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53846" y="1862070"/>
            <a:ext cx="2792361" cy="2739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FEASIBILITY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  <a:defRPr/>
            </a:pPr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Low Cost: </a:t>
            </a:r>
            <a:r>
              <a:rPr lang="en-US" sz="1600" dirty="0">
                <a:solidFill>
                  <a:schemeClr val="tx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Uses free and open-source tools.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  <a:defRPr/>
            </a:pPr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Easy to Develop:</a:t>
            </a:r>
            <a:r>
              <a:rPr lang="en-US" sz="1600" dirty="0">
                <a:solidFill>
                  <a:schemeClr val="tx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Can be built using existing data and ML technologies.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  <a:defRPr/>
            </a:pPr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Scalable: </a:t>
            </a:r>
            <a:r>
              <a:rPr lang="en-US" sz="1600" dirty="0">
                <a:solidFill>
                  <a:schemeClr val="tx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Can be expanded to more trains and routes.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LUMINA</a:t>
            </a:r>
            <a:endParaRPr lang="en-IN" sz="16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EE212D0-1CD9-BD9F-E891-5FA5476D97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4457929"/>
              </p:ext>
            </p:extLst>
          </p:nvPr>
        </p:nvGraphicFramePr>
        <p:xfrm>
          <a:off x="3901936" y="1297858"/>
          <a:ext cx="7680464" cy="39856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138293">
                  <a:extLst>
                    <a:ext uri="{9D8B030D-6E8A-4147-A177-3AD203B41FA5}">
                      <a16:colId xmlns:a16="http://schemas.microsoft.com/office/drawing/2014/main" val="1129598681"/>
                    </a:ext>
                  </a:extLst>
                </a:gridCol>
                <a:gridCol w="5542171">
                  <a:extLst>
                    <a:ext uri="{9D8B030D-6E8A-4147-A177-3AD203B41FA5}">
                      <a16:colId xmlns:a16="http://schemas.microsoft.com/office/drawing/2014/main" val="1938646681"/>
                    </a:ext>
                  </a:extLst>
                </a:gridCol>
              </a:tblGrid>
              <a:tr h="66427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VIABILITY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4610905"/>
                  </a:ext>
                </a:extLst>
              </a:tr>
              <a:tr h="66427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TECHNICAL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Uses available GPS, railway and historical data with ML models.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4121980"/>
                  </a:ext>
                </a:extLst>
              </a:tr>
              <a:tr h="66427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FINANCIAL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Can be developed using existing software and cloud tools.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588762"/>
                  </a:ext>
                </a:extLst>
              </a:tr>
              <a:tr h="66427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OPERATIONAL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Can support railway staff in monitoring delays and planning.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473834"/>
                  </a:ext>
                </a:extLst>
              </a:tr>
              <a:tr h="66427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SCALABILITY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Can be expanded to more trains, routes and stations.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750264"/>
                  </a:ext>
                </a:extLst>
              </a:tr>
              <a:tr h="66427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PRACTICAL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Provides useful ETA predictions for passengers and Railways.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3660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38F1AD0C-5B03-0145-D70E-0800CF9A8AA4}"/>
              </a:ext>
            </a:extLst>
          </p:cNvPr>
          <p:cNvSpPr/>
          <p:nvPr/>
        </p:nvSpPr>
        <p:spPr>
          <a:xfrm>
            <a:off x="5987845" y="1216623"/>
            <a:ext cx="5869858" cy="4892995"/>
          </a:xfrm>
          <a:prstGeom prst="flowChartProcess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Accurate Arrival Information</a:t>
            </a:r>
          </a:p>
          <a:p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Passengers know the expected arrival time.</a:t>
            </a:r>
          </a:p>
          <a:p>
            <a:endParaRPr lang="en-IN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Reduced Waiting Time </a:t>
            </a:r>
          </a:p>
          <a:p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Helps passengers avoid unnecessary waiting at stations.</a:t>
            </a:r>
          </a:p>
          <a:p>
            <a:endParaRPr lang="en-IN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Early Delay Detection</a:t>
            </a:r>
          </a:p>
          <a:p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Identifies possible delays before they become major issues.</a:t>
            </a:r>
          </a:p>
          <a:p>
            <a:endParaRPr lang="en-IN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Better Resource Planning</a:t>
            </a:r>
          </a:p>
          <a:p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Helps Railways manage trains and schedules efficiently.</a:t>
            </a:r>
          </a:p>
          <a:p>
            <a:endParaRPr lang="en-IN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Improved Travel Experience</a:t>
            </a:r>
          </a:p>
          <a:p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Makes train journeys more predictable and convenient.</a:t>
            </a:r>
          </a:p>
        </p:txBody>
      </p:sp>
      <p:sp>
        <p:nvSpPr>
          <p:cNvPr id="13" name="Flowchart: Process 12">
            <a:extLst>
              <a:ext uri="{FF2B5EF4-FFF2-40B4-BE49-F238E27FC236}">
                <a16:creationId xmlns:a16="http://schemas.microsoft.com/office/drawing/2014/main" id="{065733CE-38D9-7890-DBC9-1DFF9FA344A7}"/>
              </a:ext>
            </a:extLst>
          </p:cNvPr>
          <p:cNvSpPr/>
          <p:nvPr/>
        </p:nvSpPr>
        <p:spPr>
          <a:xfrm>
            <a:off x="137651" y="1216623"/>
            <a:ext cx="5378245" cy="4892995"/>
          </a:xfrm>
          <a:prstGeom prst="flowChartProcess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Improved Railway Efficiency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Better delay prediction and scheduling.</a:t>
            </a:r>
          </a:p>
          <a:p>
            <a:endParaRPr lang="en-US" dirty="0"/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Reduced Passenger Waiting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Less uncertainty and waiting time.</a:t>
            </a:r>
          </a:p>
          <a:p>
            <a:endParaRPr lang="en-US" dirty="0">
              <a:highlight>
                <a:srgbClr val="C0C0C0"/>
              </a:highlight>
            </a:endParaRP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Better Journey Planning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Reliable ETA for smarter travel decisions.</a:t>
            </a:r>
          </a:p>
          <a:p>
            <a:endParaRPr lang="en-US" dirty="0"/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Data-Driven Decisions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Supports efficient railway operations.</a:t>
            </a:r>
          </a:p>
          <a:p>
            <a:endParaRPr lang="en-US" dirty="0"/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Enhanced Passenger Experience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More reliable and convenient train travel.</a:t>
            </a:r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593587" y="1247033"/>
            <a:ext cx="93853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IMPACTS                                                            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4">
                    <a:lumMod val="50000"/>
                  </a:schemeClr>
                </a:solidFill>
              </a:rPr>
              <a:t>LUMINA</a:t>
            </a:r>
            <a:endParaRPr lang="en-IN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94786" y="1359451"/>
            <a:ext cx="93853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IN" sz="2000" b="1" dirty="0">
                <a:solidFill>
                  <a:schemeClr val="accent4">
                    <a:lumMod val="50000"/>
                  </a:schemeClr>
                </a:solidFill>
              </a:rPr>
              <a:t>Train Delay Estimation in Indian Railways by Including Weather Factors Through ML</a:t>
            </a:r>
            <a:br>
              <a:rPr lang="en-IN" sz="2000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IN" sz="2000" dirty="0">
                <a:solidFill>
                  <a:schemeClr val="accent4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Paper – Bentham Science</a:t>
            </a:r>
            <a:endParaRPr lang="en-IN" sz="2000" dirty="0">
              <a:solidFill>
                <a:schemeClr val="accent4">
                  <a:lumMod val="50000"/>
                </a:schemeClr>
              </a:solidFill>
            </a:endParaRPr>
          </a:p>
          <a:p>
            <a:pPr lvl="0" algn="just">
              <a:defRPr/>
            </a:pPr>
            <a:endParaRPr lang="en-IN" sz="2000" dirty="0">
              <a:solidFill>
                <a:schemeClr val="accent4">
                  <a:lumMod val="50000"/>
                </a:schemeClr>
              </a:solidFill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IN" sz="2000" b="1" dirty="0">
                <a:solidFill>
                  <a:schemeClr val="accent4">
                    <a:lumMod val="50000"/>
                  </a:schemeClr>
                </a:solidFill>
              </a:rPr>
              <a:t>Prediction of Train Delay in Indian Railways through Machine Learning Techniques</a:t>
            </a:r>
            <a:br>
              <a:rPr lang="en-IN" sz="2000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IN" sz="2000" dirty="0">
                <a:solidFill>
                  <a:schemeClr val="accent4">
                    <a:lumMod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Paper – IJCSE</a:t>
            </a:r>
            <a:endParaRPr lang="en-IN" sz="2000" dirty="0">
              <a:solidFill>
                <a:schemeClr val="accent4">
                  <a:lumMod val="50000"/>
                </a:schemeClr>
              </a:solidFill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lang="en-IN" sz="2000" dirty="0">
              <a:solidFill>
                <a:schemeClr val="accent4">
                  <a:lumMod val="50000"/>
                </a:schemeClr>
              </a:solidFill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IN" sz="2000" b="1" dirty="0">
                <a:solidFill>
                  <a:schemeClr val="accent4">
                    <a:lumMod val="50000"/>
                  </a:schemeClr>
                </a:solidFill>
              </a:rPr>
              <a:t>Data-driven Predictive Model for Dynamic Expected Travel Time Estimation in Rail Freight Networks</a:t>
            </a:r>
            <a:br>
              <a:rPr lang="en-IN" sz="2000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IN" sz="2000" dirty="0">
                <a:solidFill>
                  <a:schemeClr val="accent4">
                    <a:lumMod val="50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Paper – ScienceDirect</a:t>
            </a:r>
            <a:endParaRPr lang="en-IN" sz="2000" dirty="0">
              <a:solidFill>
                <a:schemeClr val="accent4">
                  <a:lumMod val="50000"/>
                </a:schemeClr>
              </a:solidFill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lang="en-IN" sz="2000" dirty="0">
              <a:solidFill>
                <a:schemeClr val="accent4">
                  <a:lumMod val="50000"/>
                </a:schemeClr>
              </a:solidFill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IN" sz="2000" b="1" dirty="0" err="1">
                <a:solidFill>
                  <a:schemeClr val="accent4">
                    <a:lumMod val="50000"/>
                  </a:schemeClr>
                </a:solidFill>
              </a:rPr>
              <a:t>RailYatri</a:t>
            </a:r>
            <a:r>
              <a:rPr lang="en-IN" sz="2000" b="1" dirty="0">
                <a:solidFill>
                  <a:schemeClr val="accent4">
                    <a:lumMod val="50000"/>
                  </a:schemeClr>
                </a:solidFill>
              </a:rPr>
              <a:t> — Train Delay by Train Type:</a:t>
            </a:r>
            <a:r>
              <a:rPr lang="en-IN" sz="20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IN" sz="2000" dirty="0">
                <a:solidFill>
                  <a:schemeClr val="accent4">
                    <a:lumMod val="50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graph/source</a:t>
            </a:r>
            <a:endParaRPr lang="en-IN" sz="2000" dirty="0">
              <a:solidFill>
                <a:schemeClr val="accent4">
                  <a:lumMod val="50000"/>
                </a:schemeClr>
              </a:solidFill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lang="en-IN" sz="2000" dirty="0">
              <a:solidFill>
                <a:schemeClr val="accent4">
                  <a:lumMod val="50000"/>
                </a:schemeClr>
              </a:solidFill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lang="en-IN" sz="2000" dirty="0">
              <a:solidFill>
                <a:schemeClr val="accent4">
                  <a:lumMod val="50000"/>
                </a:schemeClr>
              </a:solidFill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accent4">
                    <a:lumMod val="50000"/>
                  </a:schemeClr>
                </a:solidFill>
              </a:rPr>
              <a:t>LUMINA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9062</TotalTime>
  <Words>653</Words>
  <Application>Microsoft Office PowerPoint</Application>
  <PresentationFormat>Widescreen</PresentationFormat>
  <Paragraphs>158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Sitka Display Semibold</vt:lpstr>
      <vt:lpstr>Times New Roman</vt:lpstr>
      <vt:lpstr>TradeGothic</vt:lpstr>
      <vt:lpstr>Wingdings</vt:lpstr>
      <vt:lpstr>Office Theme</vt:lpstr>
      <vt:lpstr>SMART INDIA HACKATHON 2026</vt:lpstr>
      <vt:lpstr> OUR DYNAMIC ETA FORECASTING SYSTEM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chaithra reddy</cp:lastModifiedBy>
  <cp:revision>151</cp:revision>
  <dcterms:created xsi:type="dcterms:W3CDTF">2013-12-12T18:46:50Z</dcterms:created>
  <dcterms:modified xsi:type="dcterms:W3CDTF">2026-09-12T08:09:52Z</dcterms:modified>
  <cp:category/>
</cp:coreProperties>
</file>